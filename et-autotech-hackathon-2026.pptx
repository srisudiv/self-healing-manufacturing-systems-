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64" r:id="rId2"/>
    <p:sldId id="265" r:id="rId3"/>
    <p:sldId id="257" r:id="rId4"/>
    <p:sldId id="258" r:id="rId5"/>
    <p:sldId id="266" r:id="rId6"/>
    <p:sldId id="259" r:id="rId7"/>
    <p:sldId id="267" r:id="rId8"/>
    <p:sldId id="260" r:id="rId9"/>
    <p:sldId id="261" r:id="rId10"/>
    <p:sldId id="262" r:id="rId11"/>
    <p:sldId id="263" r:id="rId12"/>
  </p:sldIdLst>
  <p:sldSz cx="9144000" cy="5143500" type="screen16x9"/>
  <p:notesSz cx="6858000" cy="9144000"/>
  <p:embeddedFontLst>
    <p:embeddedFont>
      <p:font typeface="Figtree" panose="020B060402020202020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9" d="100"/>
          <a:sy n="119" d="100"/>
        </p:scale>
        <p:origin x="418"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3BE4D4B5-A83F-CBF7-B00F-E6AFD71776F2}"/>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BBEAB7DA-6A2C-7865-01D4-8DB89B09CD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98CC0624-E2D9-8718-0B9E-1939AB885D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16924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8F42B499-556C-FA6F-408C-9E6053D57FA6}"/>
            </a:ext>
          </a:extLst>
        </p:cNvPr>
        <p:cNvGrpSpPr/>
        <p:nvPr/>
      </p:nvGrpSpPr>
      <p:grpSpPr>
        <a:xfrm>
          <a:off x="0" y="0"/>
          <a:ext cx="0" cy="0"/>
          <a:chOff x="0" y="0"/>
          <a:chExt cx="0" cy="0"/>
        </a:xfrm>
      </p:grpSpPr>
      <p:sp>
        <p:nvSpPr>
          <p:cNvPr id="57" name="Google Shape;57;g3de5ea4ffb3_0_0:notes">
            <a:extLst>
              <a:ext uri="{FF2B5EF4-FFF2-40B4-BE49-F238E27FC236}">
                <a16:creationId xmlns:a16="http://schemas.microsoft.com/office/drawing/2014/main" id="{1777456A-9BEB-3834-C2C2-5F77FCC519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de5ea4ffb3_0_0:notes">
            <a:extLst>
              <a:ext uri="{FF2B5EF4-FFF2-40B4-BE49-F238E27FC236}">
                <a16:creationId xmlns:a16="http://schemas.microsoft.com/office/drawing/2014/main" id="{4D4C8A82-1C28-2B49-443A-3ABA6C7E787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63579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de5ea4ffb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de5ea4ffb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de5ea4ffb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de5ea4ffb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ACF05C30-CD05-12B3-1FA0-0EB86ADB4486}"/>
            </a:ext>
          </a:extLst>
        </p:cNvPr>
        <p:cNvGrpSpPr/>
        <p:nvPr/>
      </p:nvGrpSpPr>
      <p:grpSpPr>
        <a:xfrm>
          <a:off x="0" y="0"/>
          <a:ext cx="0" cy="0"/>
          <a:chOff x="0" y="0"/>
          <a:chExt cx="0" cy="0"/>
        </a:xfrm>
      </p:grpSpPr>
      <p:sp>
        <p:nvSpPr>
          <p:cNvPr id="69" name="Google Shape;69;g3de5ea4ffb3_0_5:notes">
            <a:extLst>
              <a:ext uri="{FF2B5EF4-FFF2-40B4-BE49-F238E27FC236}">
                <a16:creationId xmlns:a16="http://schemas.microsoft.com/office/drawing/2014/main" id="{EA18F4FE-C50A-3173-EDA6-15E03EEB93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de5ea4ffb3_0_5:notes">
            <a:extLst>
              <a:ext uri="{FF2B5EF4-FFF2-40B4-BE49-F238E27FC236}">
                <a16:creationId xmlns:a16="http://schemas.microsoft.com/office/drawing/2014/main" id="{91FC8CB4-ACDE-E30E-F236-CFD995EC11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174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de5ea4ffb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de5ea4ffb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0EDDB7CE-9A75-5AE9-3C0F-94CED3675057}"/>
            </a:ext>
          </a:extLst>
        </p:cNvPr>
        <p:cNvGrpSpPr/>
        <p:nvPr/>
      </p:nvGrpSpPr>
      <p:grpSpPr>
        <a:xfrm>
          <a:off x="0" y="0"/>
          <a:ext cx="0" cy="0"/>
          <a:chOff x="0" y="0"/>
          <a:chExt cx="0" cy="0"/>
        </a:xfrm>
      </p:grpSpPr>
      <p:sp>
        <p:nvSpPr>
          <p:cNvPr id="69" name="Google Shape;69;g3de5ea4ffb3_0_5:notes">
            <a:extLst>
              <a:ext uri="{FF2B5EF4-FFF2-40B4-BE49-F238E27FC236}">
                <a16:creationId xmlns:a16="http://schemas.microsoft.com/office/drawing/2014/main" id="{E0C4F2F6-1A7E-16B1-1E21-19F81FCD0A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de5ea4ffb3_0_5:notes">
            <a:extLst>
              <a:ext uri="{FF2B5EF4-FFF2-40B4-BE49-F238E27FC236}">
                <a16:creationId xmlns:a16="http://schemas.microsoft.com/office/drawing/2014/main" id="{1E7AF34B-8252-3B8A-3DE6-6FE42D81D3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65777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de5ea4ffb3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de5ea4ffb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de5ea4ffb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de5ea4ffb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de5ea4ffb3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de5ea4ffb3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d880e6e05e_0_4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d880e6e05e_0_4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DB0000"/>
            </a:gs>
            <a:gs pos="48000">
              <a:srgbClr val="980202"/>
            </a:gs>
            <a:gs pos="100000">
              <a:srgbClr val="540303"/>
            </a:gs>
          </a:gsLst>
          <a:lin ang="5400012" scaled="0"/>
        </a:gradFill>
        <a:effectLst/>
      </p:bgPr>
    </p:bg>
    <p:spTree>
      <p:nvGrpSpPr>
        <p:cNvPr id="1" name="Shape 53">
          <a:extLst>
            <a:ext uri="{FF2B5EF4-FFF2-40B4-BE49-F238E27FC236}">
              <a16:creationId xmlns:a16="http://schemas.microsoft.com/office/drawing/2014/main" id="{C46CE5AC-1682-ADFE-E7BD-AB2EFEC276DC}"/>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DF4787C9-2AB5-6E5F-0296-B416095F2BA6}"/>
              </a:ext>
            </a:extLst>
          </p:cNvPr>
          <p:cNvSpPr txBox="1">
            <a:spLocks noGrp="1"/>
          </p:cNvSpPr>
          <p:nvPr>
            <p:ph type="ctrTitle"/>
          </p:nvPr>
        </p:nvSpPr>
        <p:spPr>
          <a:xfrm>
            <a:off x="311708" y="744575"/>
            <a:ext cx="8520600" cy="903921"/>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n" dirty="0">
                <a:solidFill>
                  <a:schemeClr val="lt1"/>
                </a:solidFill>
                <a:latin typeface="Figtree"/>
                <a:ea typeface="Figtree"/>
                <a:cs typeface="Figtree"/>
                <a:sym typeface="Figtree"/>
              </a:rPr>
              <a:t>ET AutoTech Hackathon</a:t>
            </a:r>
            <a:endParaRPr dirty="0">
              <a:solidFill>
                <a:schemeClr val="lt1"/>
              </a:solidFill>
              <a:latin typeface="Figtree"/>
              <a:ea typeface="Figtree"/>
              <a:cs typeface="Figtree"/>
              <a:sym typeface="Figtree"/>
            </a:endParaRPr>
          </a:p>
          <a:p>
            <a:pPr marL="0" lvl="0" indent="0" algn="ctr" rtl="0">
              <a:spcBef>
                <a:spcPts val="0"/>
              </a:spcBef>
              <a:spcAft>
                <a:spcPts val="0"/>
              </a:spcAft>
              <a:buNone/>
            </a:pPr>
            <a:r>
              <a:rPr lang="en" dirty="0">
                <a:solidFill>
                  <a:schemeClr val="lt1"/>
                </a:solidFill>
                <a:latin typeface="Figtree"/>
                <a:ea typeface="Figtree"/>
                <a:cs typeface="Figtree"/>
                <a:sym typeface="Figtree"/>
              </a:rPr>
              <a:t>2026</a:t>
            </a:r>
            <a:endParaRPr dirty="0">
              <a:solidFill>
                <a:schemeClr val="lt1"/>
              </a:solidFill>
              <a:latin typeface="Figtree"/>
              <a:ea typeface="Figtree"/>
              <a:cs typeface="Figtree"/>
              <a:sym typeface="Figtree"/>
            </a:endParaRPr>
          </a:p>
        </p:txBody>
      </p:sp>
      <p:sp>
        <p:nvSpPr>
          <p:cNvPr id="55" name="Google Shape;55;p13">
            <a:extLst>
              <a:ext uri="{FF2B5EF4-FFF2-40B4-BE49-F238E27FC236}">
                <a16:creationId xmlns:a16="http://schemas.microsoft.com/office/drawing/2014/main" id="{1024702D-A576-9005-B290-0032EBB49DA2}"/>
              </a:ext>
            </a:extLst>
          </p:cNvPr>
          <p:cNvSpPr txBox="1">
            <a:spLocks noGrp="1"/>
          </p:cNvSpPr>
          <p:nvPr>
            <p:ph type="subTitle" idx="1"/>
          </p:nvPr>
        </p:nvSpPr>
        <p:spPr>
          <a:xfrm>
            <a:off x="311700" y="1706451"/>
            <a:ext cx="8520600" cy="3110248"/>
          </a:xfrm>
          <a:prstGeom prst="rect">
            <a:avLst/>
          </a:prstGeom>
        </p:spPr>
        <p:txBody>
          <a:bodyPr spcFirstLastPara="1" wrap="square" lIns="91425" tIns="91425" rIns="91425" bIns="91425" anchor="t" anchorCtr="0">
            <a:normAutofit/>
          </a:bodyPr>
          <a:lstStyle/>
          <a:p>
            <a:pPr marL="0" lvl="0" indent="0"/>
            <a:r>
              <a:rPr lang="en-US" b="1" dirty="0">
                <a:highlight>
                  <a:srgbClr val="FFFF00"/>
                </a:highlight>
              </a:rPr>
              <a:t>AI for Resilient Automotive Supply Chains &amp; Smart Manufacturing</a:t>
            </a:r>
            <a:br>
              <a:rPr lang="en" dirty="0">
                <a:solidFill>
                  <a:schemeClr val="lt1"/>
                </a:solidFill>
                <a:latin typeface="Figtree"/>
                <a:ea typeface="Figtree"/>
                <a:cs typeface="Figtree"/>
                <a:sym typeface="Figtree"/>
              </a:rPr>
            </a:br>
            <a:r>
              <a:rPr lang="en" sz="2000" dirty="0">
                <a:solidFill>
                  <a:schemeClr val="lt1"/>
                </a:solidFill>
                <a:latin typeface="Figtree"/>
                <a:ea typeface="Figtree"/>
                <a:cs typeface="Figtree"/>
                <a:sym typeface="Figtree"/>
              </a:rPr>
              <a:t>Team Name : Sri Zerone</a:t>
            </a:r>
          </a:p>
          <a:p>
            <a:pPr marL="0" lvl="0" indent="0"/>
            <a:endParaRPr lang="en" sz="2000" dirty="0">
              <a:solidFill>
                <a:schemeClr val="lt1"/>
              </a:solidFill>
              <a:latin typeface="Figtree"/>
              <a:ea typeface="Figtree"/>
              <a:cs typeface="Figtree"/>
              <a:sym typeface="Figtree"/>
            </a:endParaRPr>
          </a:p>
          <a:p>
            <a:pPr marL="0" lvl="0" indent="0"/>
            <a:r>
              <a:rPr lang="en" sz="2000">
                <a:solidFill>
                  <a:schemeClr val="lt1"/>
                </a:solidFill>
                <a:latin typeface="Figtree"/>
                <a:ea typeface="Figtree"/>
                <a:cs typeface="Figtree"/>
                <a:sym typeface="Figtree"/>
              </a:rPr>
              <a:t>Team </a:t>
            </a:r>
            <a:r>
              <a:rPr lang="en" sz="2000" dirty="0">
                <a:solidFill>
                  <a:schemeClr val="lt1"/>
                </a:solidFill>
                <a:latin typeface="Figtree"/>
                <a:ea typeface="Figtree"/>
                <a:cs typeface="Figtree"/>
                <a:sym typeface="Figtree"/>
              </a:rPr>
              <a:t>Members : </a:t>
            </a:r>
          </a:p>
          <a:p>
            <a:pPr marL="0" lvl="0" indent="0"/>
            <a:r>
              <a:rPr lang="en" sz="2000" dirty="0">
                <a:solidFill>
                  <a:schemeClr val="lt1"/>
                </a:solidFill>
                <a:latin typeface="Figtree"/>
                <a:ea typeface="Figtree"/>
                <a:cs typeface="Figtree"/>
                <a:sym typeface="Figtree"/>
              </a:rPr>
              <a:t>1.Nitansh Shankar</a:t>
            </a:r>
          </a:p>
          <a:p>
            <a:pPr marL="0" lvl="0" indent="0"/>
            <a:r>
              <a:rPr lang="en" sz="2000" dirty="0">
                <a:solidFill>
                  <a:schemeClr val="lt1"/>
                </a:solidFill>
                <a:latin typeface="Figtree"/>
                <a:ea typeface="Figtree"/>
                <a:cs typeface="Figtree"/>
                <a:sym typeface="Figtree"/>
              </a:rPr>
              <a:t>2.Himanshu shailendra gautam</a:t>
            </a:r>
          </a:p>
          <a:p>
            <a:pPr marL="0" lvl="0" indent="0"/>
            <a:endParaRPr dirty="0">
              <a:solidFill>
                <a:schemeClr val="lt1"/>
              </a:solidFill>
              <a:latin typeface="Figtree"/>
              <a:ea typeface="Figtree"/>
              <a:cs typeface="Figtree"/>
              <a:sym typeface="Figtree"/>
            </a:endParaRPr>
          </a:p>
        </p:txBody>
      </p:sp>
    </p:spTree>
    <p:extLst>
      <p:ext uri="{BB962C8B-B14F-4D97-AF65-F5344CB8AC3E}">
        <p14:creationId xmlns:p14="http://schemas.microsoft.com/office/powerpoint/2010/main" val="481811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DB0000"/>
            </a:gs>
            <a:gs pos="48000">
              <a:srgbClr val="980202"/>
            </a:gs>
            <a:gs pos="100000">
              <a:srgbClr val="540303"/>
            </a:gs>
          </a:gsLst>
          <a:lin ang="5400012" scaled="0"/>
        </a:gradFill>
        <a:effectLst/>
      </p:bgPr>
    </p:bg>
    <p:spTree>
      <p:nvGrpSpPr>
        <p:cNvPr id="1" name="Shape 59">
          <a:extLst>
            <a:ext uri="{FF2B5EF4-FFF2-40B4-BE49-F238E27FC236}">
              <a16:creationId xmlns:a16="http://schemas.microsoft.com/office/drawing/2014/main" id="{54E84014-9243-BD65-321F-EFD1359BC594}"/>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69F49BB1-6BBC-3473-C721-18EE6EDE9346}"/>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algn="ctr">
              <a:spcBef>
                <a:spcPts val="1200"/>
              </a:spcBef>
              <a:spcAft>
                <a:spcPts val="1200"/>
              </a:spcAft>
            </a:pPr>
            <a:r>
              <a:rPr lang="en-IN" b="1" dirty="0">
                <a:solidFill>
                  <a:schemeClr val="bg1"/>
                </a:solidFill>
              </a:rPr>
              <a:t>AI-Driven Self-Healing Manufacturing Systems for Sustainable Production</a:t>
            </a:r>
            <a:endParaRPr lang="en-IN" dirty="0">
              <a:solidFill>
                <a:schemeClr val="bg1"/>
              </a:solidFill>
            </a:endParaRPr>
          </a:p>
        </p:txBody>
      </p:sp>
      <p:sp>
        <p:nvSpPr>
          <p:cNvPr id="61" name="Google Shape;61;p14">
            <a:extLst>
              <a:ext uri="{FF2B5EF4-FFF2-40B4-BE49-F238E27FC236}">
                <a16:creationId xmlns:a16="http://schemas.microsoft.com/office/drawing/2014/main" id="{B82DABEF-B426-104C-A22D-08ECB98902C3}"/>
              </a:ext>
            </a:extLst>
          </p:cNvPr>
          <p:cNvSpPr txBox="1">
            <a:spLocks noGrp="1"/>
          </p:cNvSpPr>
          <p:nvPr>
            <p:ph type="body" idx="1"/>
          </p:nvPr>
        </p:nvSpPr>
        <p:spPr>
          <a:xfrm>
            <a:off x="311700" y="1152475"/>
            <a:ext cx="7718278" cy="3416400"/>
          </a:xfrm>
          <a:prstGeom prst="rect">
            <a:avLst/>
          </a:prstGeom>
        </p:spPr>
        <p:txBody>
          <a:bodyPr spcFirstLastPara="1" wrap="square" lIns="91425" tIns="91425" rIns="91425" bIns="91425" anchor="t" anchorCtr="0">
            <a:normAutofit fontScale="70000" lnSpcReduction="20000"/>
          </a:bodyPr>
          <a:lstStyle/>
          <a:p>
            <a:pPr marL="0" indent="0">
              <a:spcBef>
                <a:spcPts val="1200"/>
              </a:spcBef>
              <a:spcAft>
                <a:spcPts val="1200"/>
              </a:spcAft>
              <a:buNone/>
            </a:pPr>
            <a:r>
              <a:rPr lang="en-IN" dirty="0">
                <a:solidFill>
                  <a:schemeClr val="bg1"/>
                </a:solidFill>
              </a:rPr>
              <a:t>Project summary:</a:t>
            </a:r>
          </a:p>
          <a:p>
            <a:pPr marL="0" indent="0">
              <a:spcBef>
                <a:spcPts val="1200"/>
              </a:spcBef>
              <a:spcAft>
                <a:spcPts val="1200"/>
              </a:spcAft>
              <a:buNone/>
            </a:pPr>
            <a:r>
              <a:rPr lang="en-IN" dirty="0">
                <a:solidFill>
                  <a:schemeClr val="bg1"/>
                </a:solidFill>
              </a:rPr>
              <a:t>This project proposes the development of an AI-driven self-healing manufacturing system capable of autonomously detecting, diagnosing, and mitigating production faults in real time. Done  through the process of integrating Deep Learning , Digital Twins, and Reinforcement Learning, the system will predict equipment failures , simulate corrective actions  in  a virtual environment , and dynamically reconfigure production parameters to minimize downtime, material waste, and energy consumption. Unlike conventional predictive maintenance systems , the proposed  approach moves  beyond fault detection toward automated recovery and adaptive optimization. A human-centred AI interface will ensure transparency and operator trust while enabling seamless collaboration between humans and intelligent systems. The project aims to demonstrate measurable improvements, including reduced production downtime, enhanced equipment lifetime, improved energy efficiency, and lower carbon emissions. By enabling resilient and sustainable manufacturing processes, the solution directly contributes to circular economy objectives and green industrial transition.</a:t>
            </a:r>
          </a:p>
          <a:p>
            <a:pPr marL="0" lvl="0" indent="0" algn="l" rtl="0">
              <a:spcBef>
                <a:spcPts val="1200"/>
              </a:spcBef>
              <a:spcAft>
                <a:spcPts val="1200"/>
              </a:spcAft>
              <a:buNone/>
            </a:pPr>
            <a:endParaRPr dirty="0"/>
          </a:p>
        </p:txBody>
      </p:sp>
    </p:spTree>
    <p:extLst>
      <p:ext uri="{BB962C8B-B14F-4D97-AF65-F5344CB8AC3E}">
        <p14:creationId xmlns:p14="http://schemas.microsoft.com/office/powerpoint/2010/main" val="466017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DB0000"/>
            </a:gs>
            <a:gs pos="48000">
              <a:srgbClr val="980202"/>
            </a:gs>
            <a:gs pos="100000">
              <a:srgbClr val="540303"/>
            </a:gs>
          </a:gsLst>
          <a:lin ang="5400012" scaled="0"/>
        </a:gra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r>
              <a:rPr lang="en-IN" b="1" dirty="0">
                <a:solidFill>
                  <a:schemeClr val="bg1"/>
                </a:solidFill>
              </a:rPr>
              <a:t>AI-Driven Self-Healing Manufacturing Systems for Sustainable Production</a:t>
            </a:r>
            <a:br>
              <a:rPr lang="en-IN" dirty="0">
                <a:solidFill>
                  <a:schemeClr val="bg1"/>
                </a:solidFill>
              </a:rPr>
            </a:br>
            <a:endParaRPr dirty="0">
              <a:solidFill>
                <a:schemeClr val="lt1"/>
              </a:solidFill>
            </a:endParaRPr>
          </a:p>
        </p:txBody>
      </p:sp>
      <p:sp>
        <p:nvSpPr>
          <p:cNvPr id="61" name="Google Shape;61;p14"/>
          <p:cNvSpPr txBox="1">
            <a:spLocks noGrp="1"/>
          </p:cNvSpPr>
          <p:nvPr>
            <p:ph type="body" idx="1"/>
          </p:nvPr>
        </p:nvSpPr>
        <p:spPr>
          <a:xfrm>
            <a:off x="311700" y="1152475"/>
            <a:ext cx="7718278" cy="3416400"/>
          </a:xfrm>
          <a:prstGeom prst="rect">
            <a:avLst/>
          </a:prstGeom>
        </p:spPr>
        <p:txBody>
          <a:bodyPr spcFirstLastPara="1" wrap="square" lIns="91425" tIns="91425" rIns="91425" bIns="91425" anchor="t" anchorCtr="0">
            <a:normAutofit fontScale="85000" lnSpcReduction="10000"/>
          </a:bodyPr>
          <a:lstStyle/>
          <a:p>
            <a:pPr marL="114300" indent="0">
              <a:buNone/>
            </a:pPr>
            <a:endParaRPr lang="en-IN" b="1" dirty="0">
              <a:solidFill>
                <a:schemeClr val="bg1"/>
              </a:solidFill>
            </a:endParaRPr>
          </a:p>
          <a:p>
            <a:pPr marL="114300" indent="0">
              <a:buNone/>
            </a:pPr>
            <a:r>
              <a:rPr lang="en-IN" b="1" dirty="0">
                <a:solidFill>
                  <a:schemeClr val="bg1"/>
                </a:solidFill>
              </a:rPr>
              <a:t>Objectives and Ambition :</a:t>
            </a:r>
            <a:endParaRPr lang="en-IN" dirty="0">
              <a:solidFill>
                <a:schemeClr val="bg1"/>
              </a:solidFill>
            </a:endParaRPr>
          </a:p>
          <a:p>
            <a:pPr marL="114300" indent="0">
              <a:buNone/>
            </a:pPr>
            <a:r>
              <a:rPr lang="en-IN" dirty="0">
                <a:solidFill>
                  <a:schemeClr val="bg1"/>
                </a:solidFill>
              </a:rPr>
              <a:t>To design and test an AI-based self-healing manufacturing that works on Deep learning, Digital twins and Reinforcement Learning to detect, diagnose, and address errors in manufacturing processes in real-time.</a:t>
            </a:r>
          </a:p>
          <a:p>
            <a:pPr marL="114300" indent="0">
              <a:buNone/>
            </a:pPr>
            <a:r>
              <a:rPr lang="en-IN" b="1" dirty="0">
                <a:solidFill>
                  <a:schemeClr val="bg1"/>
                </a:solidFill>
              </a:rPr>
              <a:t>Specific Objectives :</a:t>
            </a:r>
            <a:endParaRPr lang="en-IN" dirty="0">
              <a:solidFill>
                <a:schemeClr val="bg1"/>
              </a:solidFill>
            </a:endParaRPr>
          </a:p>
          <a:p>
            <a:r>
              <a:rPr lang="en-US" dirty="0">
                <a:solidFill>
                  <a:schemeClr val="bg1"/>
                </a:solidFill>
              </a:rPr>
              <a:t>Design an AI predictive fault detection model, which uses time-series sensor data.</a:t>
            </a:r>
            <a:endParaRPr lang="en-IN" dirty="0">
              <a:solidFill>
                <a:schemeClr val="bg1"/>
              </a:solidFill>
            </a:endParaRPr>
          </a:p>
          <a:p>
            <a:r>
              <a:rPr lang="en-US" dirty="0">
                <a:solidFill>
                  <a:schemeClr val="bg1"/>
                </a:solidFill>
              </a:rPr>
              <a:t>Digitally simulate the production system in real time and test scenarios by creating a high-fidelity Digital Twin of the production system.</a:t>
            </a:r>
            <a:endParaRPr lang="en-IN" dirty="0">
              <a:solidFill>
                <a:schemeClr val="bg1"/>
              </a:solidFill>
            </a:endParaRPr>
          </a:p>
          <a:p>
            <a:r>
              <a:rPr lang="en-US" dirty="0">
                <a:solidFill>
                  <a:schemeClr val="bg1"/>
                </a:solidFill>
              </a:rPr>
              <a:t>Develop a Reinforcement Learning-based dynamic process reconfiguration adaptive recovery engine.</a:t>
            </a:r>
            <a:endParaRPr lang="en-IN" dirty="0">
              <a:solidFill>
                <a:schemeClr val="bg1"/>
              </a:solidFill>
            </a:endParaRPr>
          </a:p>
          <a:p>
            <a:r>
              <a:rPr lang="en-US" dirty="0">
                <a:solidFill>
                  <a:schemeClr val="bg1"/>
                </a:solidFill>
              </a:rPr>
              <a:t>Add human explainable AI interface to trust and transparency by operators.</a:t>
            </a:r>
            <a:endParaRPr lang="en-IN" dirty="0">
              <a:solidFill>
                <a:schemeClr val="bg1"/>
              </a:solidFill>
            </a:endParaRPr>
          </a:p>
          <a:p>
            <a:r>
              <a:rPr lang="en-IN" dirty="0">
                <a:solidFill>
                  <a:schemeClr val="bg1"/>
                </a:solidFill>
              </a:rPr>
              <a:t>Test the system in an industrial pilot </a:t>
            </a:r>
            <a:endParaRPr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DB0000"/>
            </a:gs>
            <a:gs pos="48000">
              <a:srgbClr val="980202"/>
            </a:gs>
            <a:gs pos="100000">
              <a:srgbClr val="540303"/>
            </a:gs>
          </a:gsLst>
          <a:lin ang="5400012" scaled="0"/>
        </a:gradFill>
        <a:effectLst/>
      </p:bgPr>
    </p:bg>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solidFill>
                  <a:schemeClr val="lt1"/>
                </a:solidFill>
                <a:latin typeface="Figtree"/>
                <a:ea typeface="Figtree"/>
                <a:cs typeface="Figtree"/>
                <a:sym typeface="Figtree"/>
              </a:rPr>
              <a:t>IMPACT OF PROPOSED SOLUTION</a:t>
            </a:r>
            <a:endParaRPr>
              <a:solidFill>
                <a:schemeClr val="lt1"/>
              </a:solidFill>
              <a:latin typeface="Figtree"/>
              <a:ea typeface="Figtree"/>
              <a:cs typeface="Figtree"/>
              <a:sym typeface="Figtree"/>
            </a:endParaRPr>
          </a:p>
        </p:txBody>
      </p:sp>
      <p:sp>
        <p:nvSpPr>
          <p:cNvPr id="67" name="Google Shape;67;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114300" indent="0">
              <a:buNone/>
            </a:pPr>
            <a:r>
              <a:rPr lang="en-IN" dirty="0">
                <a:solidFill>
                  <a:schemeClr val="bg1"/>
                </a:solidFill>
              </a:rPr>
              <a:t>The Proposed solution AI-Driven Self-Healing Manufacturing System will provide measurable technological, economic, environmental, and societal impacts through a structured and credible pathway from research results to industrial adoption and market deployment. project will develop an integrated AI framework combining deep learning, digital twins, and reinforcement learning to enable autonomous fault detection and recovery at the technical level. That will significantly advance the state of the art by shifting from predictive maintenance to self-adaptive manufacturing systems capable of real-time process reconfiguration. The result validation of the system in a relevant industrial environment will ensure technical maturity and readiness for </a:t>
            </a:r>
            <a:r>
              <a:rPr lang="en-IN" dirty="0" err="1">
                <a:solidFill>
                  <a:schemeClr val="bg1"/>
                </a:solidFill>
              </a:rPr>
              <a:t>commercialization.The</a:t>
            </a:r>
            <a:r>
              <a:rPr lang="en-IN" dirty="0">
                <a:solidFill>
                  <a:schemeClr val="bg1"/>
                </a:solidFill>
              </a:rPr>
              <a:t> project is expected to reduce unplanned downtime by up to 30%, decrease maintenance costs by approximately 20%, and extend equipment lifetime by at least 15%  according to economic perspective. </a:t>
            </a:r>
            <a:endParaRPr dirty="0">
              <a:solidFill>
                <a:schemeClr val="bg1"/>
              </a:solidFill>
              <a:latin typeface="Figtree"/>
              <a:ea typeface="Figtree"/>
              <a:cs typeface="Figtree"/>
              <a:sym typeface="Figtre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DB0000"/>
            </a:gs>
            <a:gs pos="48000">
              <a:srgbClr val="980202"/>
            </a:gs>
            <a:gs pos="100000">
              <a:srgbClr val="540303"/>
            </a:gs>
          </a:gsLst>
          <a:lin ang="5400012" scaled="0"/>
        </a:gradFill>
        <a:effectLst/>
      </p:bgPr>
    </p:bg>
    <p:spTree>
      <p:nvGrpSpPr>
        <p:cNvPr id="1" name="Shape 71">
          <a:extLst>
            <a:ext uri="{FF2B5EF4-FFF2-40B4-BE49-F238E27FC236}">
              <a16:creationId xmlns:a16="http://schemas.microsoft.com/office/drawing/2014/main" id="{D7F46FD5-32FD-3229-8844-531F42AD2B93}"/>
            </a:ext>
          </a:extLst>
        </p:cNvPr>
        <p:cNvGrpSpPr/>
        <p:nvPr/>
      </p:nvGrpSpPr>
      <p:grpSpPr>
        <a:xfrm>
          <a:off x="0" y="0"/>
          <a:ext cx="0" cy="0"/>
          <a:chOff x="0" y="0"/>
          <a:chExt cx="0" cy="0"/>
        </a:xfrm>
      </p:grpSpPr>
      <p:sp>
        <p:nvSpPr>
          <p:cNvPr id="72" name="Google Shape;72;p16">
            <a:extLst>
              <a:ext uri="{FF2B5EF4-FFF2-40B4-BE49-F238E27FC236}">
                <a16:creationId xmlns:a16="http://schemas.microsoft.com/office/drawing/2014/main" id="{7BEBF12A-F304-7480-48E6-C5E2C9A3D0E8}"/>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IN" dirty="0">
                <a:solidFill>
                  <a:schemeClr val="lt1"/>
                </a:solidFill>
                <a:latin typeface="Figtree"/>
                <a:ea typeface="Figtree"/>
                <a:cs typeface="Figtree"/>
                <a:sym typeface="Figtree"/>
              </a:rPr>
              <a:t>W</a:t>
            </a:r>
            <a:r>
              <a:rPr lang="en" dirty="0">
                <a:solidFill>
                  <a:schemeClr val="lt1"/>
                </a:solidFill>
                <a:latin typeface="Figtree"/>
                <a:ea typeface="Figtree"/>
                <a:cs typeface="Figtree"/>
                <a:sym typeface="Figtree"/>
              </a:rPr>
              <a:t>ork flow diagram</a:t>
            </a:r>
            <a:endParaRPr dirty="0">
              <a:solidFill>
                <a:schemeClr val="lt1"/>
              </a:solidFill>
              <a:latin typeface="Figtree"/>
              <a:ea typeface="Figtree"/>
              <a:cs typeface="Figtree"/>
              <a:sym typeface="Figtree"/>
            </a:endParaRPr>
          </a:p>
        </p:txBody>
      </p:sp>
      <p:pic>
        <p:nvPicPr>
          <p:cNvPr id="5" name="Picture 4">
            <a:extLst>
              <a:ext uri="{FF2B5EF4-FFF2-40B4-BE49-F238E27FC236}">
                <a16:creationId xmlns:a16="http://schemas.microsoft.com/office/drawing/2014/main" id="{4E3CB30A-0DB3-5B35-D68B-66EB6E8F62F5}"/>
              </a:ext>
            </a:extLst>
          </p:cNvPr>
          <p:cNvPicPr>
            <a:picLocks noChangeAspect="1"/>
          </p:cNvPicPr>
          <p:nvPr/>
        </p:nvPicPr>
        <p:blipFill>
          <a:blip r:embed="rId3"/>
          <a:stretch>
            <a:fillRect/>
          </a:stretch>
        </p:blipFill>
        <p:spPr>
          <a:xfrm>
            <a:off x="2357095" y="1153299"/>
            <a:ext cx="2613887" cy="3234448"/>
          </a:xfrm>
          <a:prstGeom prst="rect">
            <a:avLst/>
          </a:prstGeom>
        </p:spPr>
      </p:pic>
    </p:spTree>
    <p:extLst>
      <p:ext uri="{BB962C8B-B14F-4D97-AF65-F5344CB8AC3E}">
        <p14:creationId xmlns:p14="http://schemas.microsoft.com/office/powerpoint/2010/main" val="3126741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0">
              <a:srgbClr val="DB0000"/>
            </a:gs>
            <a:gs pos="48000">
              <a:srgbClr val="980202"/>
            </a:gs>
            <a:gs pos="100000">
              <a:srgbClr val="540303"/>
            </a:gs>
          </a:gsLst>
          <a:lin ang="5400012" scaled="0"/>
        </a:gradFill>
        <a:effectLst/>
      </p:bgPr>
    </p:bg>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solidFill>
                  <a:schemeClr val="lt1"/>
                </a:solidFill>
                <a:latin typeface="Figtree"/>
                <a:ea typeface="Figtree"/>
                <a:cs typeface="Figtree"/>
                <a:sym typeface="Figtree"/>
              </a:rPr>
              <a:t>ARCHITECTURE</a:t>
            </a:r>
            <a:endParaRPr dirty="0">
              <a:solidFill>
                <a:schemeClr val="lt1"/>
              </a:solidFill>
              <a:latin typeface="Figtree"/>
              <a:ea typeface="Figtree"/>
              <a:cs typeface="Figtree"/>
              <a:sym typeface="Figtree"/>
            </a:endParaRPr>
          </a:p>
        </p:txBody>
      </p:sp>
      <p:pic>
        <p:nvPicPr>
          <p:cNvPr id="3" name="Picture 2">
            <a:extLst>
              <a:ext uri="{FF2B5EF4-FFF2-40B4-BE49-F238E27FC236}">
                <a16:creationId xmlns:a16="http://schemas.microsoft.com/office/drawing/2014/main" id="{93AA51D3-2F87-18B9-F3AA-D0ACDA12B860}"/>
              </a:ext>
            </a:extLst>
          </p:cNvPr>
          <p:cNvPicPr>
            <a:picLocks noChangeAspect="1"/>
          </p:cNvPicPr>
          <p:nvPr/>
        </p:nvPicPr>
        <p:blipFill>
          <a:blip r:embed="rId3"/>
          <a:stretch>
            <a:fillRect/>
          </a:stretch>
        </p:blipFill>
        <p:spPr>
          <a:xfrm>
            <a:off x="989108" y="1069240"/>
            <a:ext cx="6660943" cy="386205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DB0000"/>
            </a:gs>
            <a:gs pos="48000">
              <a:srgbClr val="980202"/>
            </a:gs>
            <a:gs pos="100000">
              <a:srgbClr val="540303"/>
            </a:gs>
          </a:gsLst>
          <a:lin ang="5400012" scaled="0"/>
        </a:gradFill>
        <a:effectLst/>
      </p:bgPr>
    </p:bg>
    <p:spTree>
      <p:nvGrpSpPr>
        <p:cNvPr id="1" name="Shape 71">
          <a:extLst>
            <a:ext uri="{FF2B5EF4-FFF2-40B4-BE49-F238E27FC236}">
              <a16:creationId xmlns:a16="http://schemas.microsoft.com/office/drawing/2014/main" id="{162CF449-D32E-8209-BB3E-2D138DD2EEA9}"/>
            </a:ext>
          </a:extLst>
        </p:cNvPr>
        <p:cNvGrpSpPr/>
        <p:nvPr/>
      </p:nvGrpSpPr>
      <p:grpSpPr>
        <a:xfrm>
          <a:off x="0" y="0"/>
          <a:ext cx="0" cy="0"/>
          <a:chOff x="0" y="0"/>
          <a:chExt cx="0" cy="0"/>
        </a:xfrm>
      </p:grpSpPr>
      <p:sp>
        <p:nvSpPr>
          <p:cNvPr id="72" name="Google Shape;72;p16">
            <a:extLst>
              <a:ext uri="{FF2B5EF4-FFF2-40B4-BE49-F238E27FC236}">
                <a16:creationId xmlns:a16="http://schemas.microsoft.com/office/drawing/2014/main" id="{22B75383-0F1A-13C1-05C9-EA7CC74A5267}"/>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solidFill>
                  <a:schemeClr val="lt1"/>
                </a:solidFill>
                <a:latin typeface="Figtree"/>
                <a:ea typeface="Figtree"/>
                <a:cs typeface="Figtree"/>
                <a:sym typeface="Figtree"/>
              </a:rPr>
              <a:t>Software utilized</a:t>
            </a:r>
            <a:endParaRPr dirty="0">
              <a:solidFill>
                <a:schemeClr val="lt1"/>
              </a:solidFill>
              <a:latin typeface="Figtree"/>
              <a:ea typeface="Figtree"/>
              <a:cs typeface="Figtree"/>
              <a:sym typeface="Figtree"/>
            </a:endParaRPr>
          </a:p>
        </p:txBody>
      </p:sp>
      <p:pic>
        <p:nvPicPr>
          <p:cNvPr id="4" name="Picture 3">
            <a:extLst>
              <a:ext uri="{FF2B5EF4-FFF2-40B4-BE49-F238E27FC236}">
                <a16:creationId xmlns:a16="http://schemas.microsoft.com/office/drawing/2014/main" id="{395F0C6E-A195-1403-9848-F6F683A4BDCC}"/>
              </a:ext>
            </a:extLst>
          </p:cNvPr>
          <p:cNvPicPr>
            <a:picLocks noChangeAspect="1"/>
          </p:cNvPicPr>
          <p:nvPr/>
        </p:nvPicPr>
        <p:blipFill>
          <a:blip r:embed="rId3"/>
          <a:stretch>
            <a:fillRect/>
          </a:stretch>
        </p:blipFill>
        <p:spPr>
          <a:xfrm>
            <a:off x="2152440" y="1306720"/>
            <a:ext cx="4839119" cy="2530059"/>
          </a:xfrm>
          <a:prstGeom prst="rect">
            <a:avLst/>
          </a:prstGeom>
        </p:spPr>
      </p:pic>
    </p:spTree>
    <p:extLst>
      <p:ext uri="{BB962C8B-B14F-4D97-AF65-F5344CB8AC3E}">
        <p14:creationId xmlns:p14="http://schemas.microsoft.com/office/powerpoint/2010/main" val="448663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0">
              <a:srgbClr val="DB0000"/>
            </a:gs>
            <a:gs pos="48000">
              <a:srgbClr val="980202"/>
            </a:gs>
            <a:gs pos="100000">
              <a:srgbClr val="540303"/>
            </a:gs>
          </a:gsLst>
          <a:lin ang="5400012" scaled="0"/>
        </a:gradFill>
        <a:effectLst/>
      </p:bgPr>
    </p:bg>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445025"/>
            <a:ext cx="8520600" cy="1651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solidFill>
                  <a:schemeClr val="lt1"/>
                </a:solidFill>
              </a:rPr>
              <a:t>Architecture Diagrams, Screenshots/Video Demo of Application</a:t>
            </a:r>
            <a:endParaRPr>
              <a:solidFill>
                <a:schemeClr val="lt1"/>
              </a:solidFill>
            </a:endParaRPr>
          </a:p>
        </p:txBody>
      </p:sp>
      <p:sp>
        <p:nvSpPr>
          <p:cNvPr id="79" name="Google Shape;79;p17"/>
          <p:cNvSpPr txBox="1">
            <a:spLocks noGrp="1"/>
          </p:cNvSpPr>
          <p:nvPr>
            <p:ph type="body" idx="1"/>
          </p:nvPr>
        </p:nvSpPr>
        <p:spPr>
          <a:xfrm>
            <a:off x="311700" y="2338425"/>
            <a:ext cx="8520600" cy="22305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a:solidFill>
                  <a:schemeClr val="lt1"/>
                </a:solidFill>
                <a:latin typeface="Figtree"/>
                <a:ea typeface="Figtree"/>
                <a:cs typeface="Figtree"/>
                <a:sym typeface="Figtree"/>
              </a:rPr>
              <a:t>You should share architecture diagrams to give clarity to your solution.</a:t>
            </a:r>
            <a:br>
              <a:rPr lang="en">
                <a:solidFill>
                  <a:schemeClr val="lt1"/>
                </a:solidFill>
                <a:latin typeface="Figtree"/>
                <a:ea typeface="Figtree"/>
                <a:cs typeface="Figtree"/>
                <a:sym typeface="Figtree"/>
              </a:rPr>
            </a:br>
            <a:r>
              <a:rPr lang="en">
                <a:solidFill>
                  <a:schemeClr val="lt1"/>
                </a:solidFill>
                <a:latin typeface="Figtree"/>
                <a:ea typeface="Figtree"/>
                <a:cs typeface="Figtree"/>
                <a:sym typeface="Figtree"/>
              </a:rPr>
              <a:t>In case, you have done some work on the proposed idea, share the screenshots/ video demonstration. It is highly rewarded.</a:t>
            </a:r>
            <a:br>
              <a:rPr lang="en">
                <a:solidFill>
                  <a:schemeClr val="lt1"/>
                </a:solidFill>
                <a:latin typeface="Figtree"/>
                <a:ea typeface="Figtree"/>
                <a:cs typeface="Figtree"/>
                <a:sym typeface="Figtree"/>
              </a:rPr>
            </a:br>
            <a:br>
              <a:rPr lang="en">
                <a:solidFill>
                  <a:schemeClr val="lt1"/>
                </a:solidFill>
                <a:latin typeface="Figtree"/>
                <a:ea typeface="Figtree"/>
                <a:cs typeface="Figtree"/>
                <a:sym typeface="Figtree"/>
              </a:rPr>
            </a:br>
            <a:r>
              <a:rPr lang="en">
                <a:solidFill>
                  <a:schemeClr val="lt1"/>
                </a:solidFill>
                <a:latin typeface="Figtree"/>
                <a:ea typeface="Figtree"/>
                <a:cs typeface="Figtree"/>
                <a:sym typeface="Figtree"/>
              </a:rPr>
              <a:t>If the solution is hosted on Git, you can share the git url (make it accessible for us to judge).</a:t>
            </a:r>
            <a:endParaRPr>
              <a:solidFill>
                <a:schemeClr val="lt1"/>
              </a:solidFill>
              <a:latin typeface="Figtree"/>
              <a:ea typeface="Figtree"/>
              <a:cs typeface="Figtree"/>
              <a:sym typeface="Figtre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rgbClr val="DB0000"/>
            </a:gs>
            <a:gs pos="48000">
              <a:srgbClr val="980202"/>
            </a:gs>
            <a:gs pos="100000">
              <a:srgbClr val="540303"/>
            </a:gs>
          </a:gsLst>
          <a:lin ang="5400012" scaled="0"/>
        </a:gradFill>
        <a:effectLst/>
      </p:bgPr>
    </p:bg>
    <p:spTree>
      <p:nvGrpSpPr>
        <p:cNvPr id="1" name="Shape 83"/>
        <p:cNvGrpSpPr/>
        <p:nvPr/>
      </p:nvGrpSpPr>
      <p:grpSpPr>
        <a:xfrm>
          <a:off x="0" y="0"/>
          <a:ext cx="0" cy="0"/>
          <a:chOff x="0" y="0"/>
          <a:chExt cx="0" cy="0"/>
        </a:xfrm>
      </p:grpSpPr>
      <p:sp>
        <p:nvSpPr>
          <p:cNvPr id="84" name="Google Shape;84;p18"/>
          <p:cNvSpPr txBox="1">
            <a:spLocks noGrp="1"/>
          </p:cNvSpPr>
          <p:nvPr>
            <p:ph type="title"/>
          </p:nvPr>
        </p:nvSpPr>
        <p:spPr>
          <a:xfrm>
            <a:off x="311700" y="445025"/>
            <a:ext cx="8520600" cy="142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chemeClr val="lt1"/>
                </a:solidFill>
              </a:rPr>
              <a:t>Project outcome:</a:t>
            </a:r>
            <a:endParaRPr dirty="0">
              <a:solidFill>
                <a:schemeClr val="lt1"/>
              </a:solidFill>
            </a:endParaRPr>
          </a:p>
        </p:txBody>
      </p:sp>
      <p:sp>
        <p:nvSpPr>
          <p:cNvPr id="85" name="Google Shape;85;p18"/>
          <p:cNvSpPr txBox="1">
            <a:spLocks noGrp="1"/>
          </p:cNvSpPr>
          <p:nvPr>
            <p:ph type="body" idx="1"/>
          </p:nvPr>
        </p:nvSpPr>
        <p:spPr>
          <a:xfrm>
            <a:off x="311700" y="1618030"/>
            <a:ext cx="8520600" cy="2094300"/>
          </a:xfrm>
          <a:prstGeom prst="rect">
            <a:avLst/>
          </a:prstGeom>
        </p:spPr>
        <p:txBody>
          <a:bodyPr spcFirstLastPara="1" wrap="square" lIns="91425" tIns="91425" rIns="91425" bIns="91425" anchor="t" anchorCtr="0">
            <a:normAutofit fontScale="92500" lnSpcReduction="20000"/>
          </a:bodyPr>
          <a:lstStyle/>
          <a:p>
            <a:pPr marL="0" indent="0">
              <a:spcAft>
                <a:spcPts val="1200"/>
              </a:spcAft>
              <a:buNone/>
            </a:pPr>
            <a:r>
              <a:rPr lang="en-IN" dirty="0">
                <a:solidFill>
                  <a:schemeClr val="bg1"/>
                </a:solidFill>
              </a:rPr>
              <a:t>The self-healing optimization engine will integrate sustainability metrics directly into operational decision-making in terms of environmental impact, through dynamic process adjustments and energy-aware control strategies, the project aims to achieve a 15–25% reduction in energy consumption, a 10–20% reduction in material waste, and up to 18% reduction in CO₂ emissions compared to baseline operations. Result outcomes directly contribute to climate neutrality objectives and the transition toward circular and resource-efficient manufacturing systems.</a:t>
            </a:r>
          </a:p>
          <a:p>
            <a:pPr marL="0" lvl="0" indent="0" algn="l" rtl="0">
              <a:spcBef>
                <a:spcPts val="0"/>
              </a:spcBef>
              <a:spcAft>
                <a:spcPts val="1200"/>
              </a:spcAft>
              <a:buNone/>
            </a:pPr>
            <a:endParaRPr dirty="0">
              <a:solidFill>
                <a:schemeClr val="lt1"/>
              </a:solidFill>
              <a:latin typeface="Figtree"/>
              <a:ea typeface="Figtree"/>
              <a:cs typeface="Figtree"/>
              <a:sym typeface="Figtre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DB0000"/>
            </a:gs>
            <a:gs pos="48000">
              <a:srgbClr val="980202"/>
            </a:gs>
            <a:gs pos="100000">
              <a:srgbClr val="540303"/>
            </a:gs>
          </a:gsLst>
          <a:lin ang="5400012" scaled="0"/>
        </a:gradFill>
        <a:effectLst/>
      </p:bgPr>
    </p:bg>
    <p:spTree>
      <p:nvGrpSpPr>
        <p:cNvPr id="1" name="Shape 89"/>
        <p:cNvGrpSpPr/>
        <p:nvPr/>
      </p:nvGrpSpPr>
      <p:grpSpPr>
        <a:xfrm>
          <a:off x="0" y="0"/>
          <a:ext cx="0" cy="0"/>
          <a:chOff x="0" y="0"/>
          <a:chExt cx="0" cy="0"/>
        </a:xfrm>
      </p:grpSpPr>
      <p:sp>
        <p:nvSpPr>
          <p:cNvPr id="90" name="Google Shape;9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solidFill>
                  <a:schemeClr val="lt1"/>
                </a:solidFill>
                <a:latin typeface="Figtree"/>
                <a:ea typeface="Figtree"/>
                <a:cs typeface="Figtree"/>
                <a:sym typeface="Figtree"/>
              </a:rPr>
              <a:t>Advantages:</a:t>
            </a:r>
            <a:endParaRPr dirty="0">
              <a:solidFill>
                <a:schemeClr val="lt1"/>
              </a:solidFill>
              <a:latin typeface="Figtree"/>
              <a:ea typeface="Figtree"/>
              <a:cs typeface="Figtree"/>
              <a:sym typeface="Figtree"/>
            </a:endParaRPr>
          </a:p>
        </p:txBody>
      </p:sp>
      <p:pic>
        <p:nvPicPr>
          <p:cNvPr id="3" name="Picture 2">
            <a:extLst>
              <a:ext uri="{FF2B5EF4-FFF2-40B4-BE49-F238E27FC236}">
                <a16:creationId xmlns:a16="http://schemas.microsoft.com/office/drawing/2014/main" id="{96C5E752-5F26-27D1-A0B3-5FC5A3E7B620}"/>
              </a:ext>
            </a:extLst>
          </p:cNvPr>
          <p:cNvPicPr>
            <a:picLocks noChangeAspect="1"/>
          </p:cNvPicPr>
          <p:nvPr/>
        </p:nvPicPr>
        <p:blipFill>
          <a:blip r:embed="rId3"/>
          <a:stretch>
            <a:fillRect/>
          </a:stretch>
        </p:blipFill>
        <p:spPr>
          <a:xfrm>
            <a:off x="914808" y="1017725"/>
            <a:ext cx="6683319" cy="384843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0">
              <a:srgbClr val="DB0000"/>
            </a:gs>
            <a:gs pos="48000">
              <a:srgbClr val="980202"/>
            </a:gs>
            <a:gs pos="100000">
              <a:srgbClr val="540303"/>
            </a:gs>
          </a:gsLst>
          <a:lin ang="5400012" scaled="0"/>
        </a:gradFill>
        <a:effectLst/>
      </p:bgPr>
    </p:bg>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solidFill>
                  <a:schemeClr val="lt1"/>
                </a:solidFill>
                <a:latin typeface="Figtree"/>
                <a:ea typeface="Figtree"/>
                <a:cs typeface="Figtree"/>
                <a:sym typeface="Figtree"/>
              </a:rPr>
              <a:t>THANK YOU</a:t>
            </a:r>
            <a:endParaRPr>
              <a:solidFill>
                <a:schemeClr val="lt1"/>
              </a:solidFill>
              <a:latin typeface="Figtree"/>
              <a:ea typeface="Figtree"/>
              <a:cs typeface="Figtree"/>
              <a:sym typeface="Figtree"/>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628</Words>
  <Application>Microsoft Office PowerPoint</Application>
  <PresentationFormat>On-screen Show (16:9)</PresentationFormat>
  <Paragraphs>31</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Figtree</vt:lpstr>
      <vt:lpstr>Arial</vt:lpstr>
      <vt:lpstr>Simple Light</vt:lpstr>
      <vt:lpstr>ET AutoTech Hackathon 2026</vt:lpstr>
      <vt:lpstr>AI-Driven Self-Healing Manufacturing Systems for Sustainable Production</vt:lpstr>
      <vt:lpstr>AI-Driven Self-Healing Manufacturing Systems for Sustainable Production </vt:lpstr>
      <vt:lpstr>IMPACT OF PROPOSED SOLUTION</vt:lpstr>
      <vt:lpstr>Work flow diagram</vt:lpstr>
      <vt:lpstr>ARCHITECTURE</vt:lpstr>
      <vt:lpstr>Software utilized</vt:lpstr>
      <vt:lpstr>Architecture Diagrams, Screenshots/Video Demo of Application</vt:lpstr>
      <vt:lpstr>Project outcome:</vt:lpstr>
      <vt:lpstr>Advantages: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sriram s</cp:lastModifiedBy>
  <cp:revision>6</cp:revision>
  <dcterms:modified xsi:type="dcterms:W3CDTF">2026-05-28T01:50:08Z</dcterms:modified>
</cp:coreProperties>
</file>